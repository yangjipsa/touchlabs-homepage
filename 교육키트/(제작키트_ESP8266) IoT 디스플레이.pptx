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270" r:id="rId2"/>
    <p:sldId id="2106" r:id="rId3"/>
    <p:sldId id="2271" r:id="rId4"/>
    <p:sldId id="2278" r:id="rId5"/>
    <p:sldId id="2280" r:id="rId6"/>
    <p:sldId id="2281" r:id="rId7"/>
    <p:sldId id="2279" r:id="rId8"/>
    <p:sldId id="2283" r:id="rId9"/>
    <p:sldId id="2282" r:id="rId10"/>
  </p:sldIdLst>
  <p:sldSz cx="9144000" cy="6858000" type="screen4x3"/>
  <p:notesSz cx="7104063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43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0EF"/>
    <a:srgbClr val="0000FF"/>
    <a:srgbClr val="21BAF1"/>
    <a:srgbClr val="FFFFFF"/>
    <a:srgbClr val="0088B8"/>
    <a:srgbClr val="009BD2"/>
    <a:srgbClr val="00B0EF"/>
    <a:srgbClr val="0083B0"/>
    <a:srgbClr val="FF434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5902" autoAdjust="0"/>
  </p:normalViewPr>
  <p:slideViewPr>
    <p:cSldViewPr>
      <p:cViewPr varScale="1">
        <p:scale>
          <a:sx n="99" d="100"/>
          <a:sy n="99" d="100"/>
        </p:scale>
        <p:origin x="2004" y="306"/>
      </p:cViewPr>
      <p:guideLst>
        <p:guide orient="horz" pos="1117"/>
        <p:guide pos="4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237" y="-72"/>
      </p:cViewPr>
      <p:guideLst>
        <p:guide orient="horz" pos="3223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763" cy="511649"/>
          </a:xfrm>
          <a:prstGeom prst="rect">
            <a:avLst/>
          </a:prstGeom>
        </p:spPr>
        <p:txBody>
          <a:bodyPr vert="horz" lIns="94753" tIns="47376" rIns="94753" bIns="4737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2019 </a:t>
            </a:r>
            <a:r>
              <a:rPr lang="ko-KR" altLang="en-US"/>
              <a:t>스마트시스템 코딩스쿨 교육자료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29" y="1"/>
            <a:ext cx="3078763" cy="511649"/>
          </a:xfrm>
          <a:prstGeom prst="rect">
            <a:avLst/>
          </a:prstGeom>
        </p:spPr>
        <p:txBody>
          <a:bodyPr vert="horz" lIns="94753" tIns="47376" rIns="94753" bIns="4737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721322"/>
            <a:ext cx="3078763" cy="511648"/>
          </a:xfrm>
          <a:prstGeom prst="rect">
            <a:avLst/>
          </a:prstGeom>
        </p:spPr>
        <p:txBody>
          <a:bodyPr vert="horz" lIns="94753" tIns="47376" rIns="94753" bIns="4737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29" y="9721322"/>
            <a:ext cx="3078763" cy="511648"/>
          </a:xfrm>
          <a:prstGeom prst="rect">
            <a:avLst/>
          </a:prstGeom>
        </p:spPr>
        <p:txBody>
          <a:bodyPr vert="horz" lIns="94753" tIns="47376" rIns="94753" bIns="4737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B75F62D-7451-4496-B3BC-31447A9706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525304"/>
      </p:ext>
    </p:extLst>
  </p:cSld>
  <p:clrMap bg1="lt1" tx1="dk1" bg2="lt2" tx2="dk2" accent1="accent1" accent2="accent2" accent3="accent3" accent4="accent4" accent5="accent5" accent6="accent6" hlink="hlink" folHlink="folHlink"/>
  <p:hf sldNum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763" cy="511649"/>
          </a:xfrm>
          <a:prstGeom prst="rect">
            <a:avLst/>
          </a:prstGeom>
        </p:spPr>
        <p:txBody>
          <a:bodyPr vert="horz" lIns="94753" tIns="47376" rIns="94753" bIns="4737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2019 </a:t>
            </a:r>
            <a:r>
              <a:rPr lang="ko-KR" altLang="en-US"/>
              <a:t>스마트시스템 코딩스쿨 교육자료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629" y="1"/>
            <a:ext cx="3078763" cy="511649"/>
          </a:xfrm>
          <a:prstGeom prst="rect">
            <a:avLst/>
          </a:prstGeom>
        </p:spPr>
        <p:txBody>
          <a:bodyPr vert="horz" lIns="94753" tIns="47376" rIns="94753" bIns="4737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3" tIns="47376" rIns="94753" bIns="4737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742" y="4861483"/>
            <a:ext cx="5682582" cy="4604834"/>
          </a:xfrm>
          <a:prstGeom prst="rect">
            <a:avLst/>
          </a:prstGeom>
        </p:spPr>
        <p:txBody>
          <a:bodyPr vert="horz" lIns="94753" tIns="47376" rIns="94753" bIns="47376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721322"/>
            <a:ext cx="3078763" cy="511648"/>
          </a:xfrm>
          <a:prstGeom prst="rect">
            <a:avLst/>
          </a:prstGeom>
        </p:spPr>
        <p:txBody>
          <a:bodyPr vert="horz" lIns="94753" tIns="47376" rIns="94753" bIns="4737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629" y="9721322"/>
            <a:ext cx="3078763" cy="511648"/>
          </a:xfrm>
          <a:prstGeom prst="rect">
            <a:avLst/>
          </a:prstGeom>
        </p:spPr>
        <p:txBody>
          <a:bodyPr vert="horz" lIns="94753" tIns="47376" rIns="94753" bIns="4737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018BFF7-92E1-468D-8B46-CA9CF1F141D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098153"/>
      </p:ext>
    </p:extLst>
  </p:cSld>
  <p:clrMap bg1="lt1" tx1="dk1" bg2="lt2" tx2="dk2" accent1="accent1" accent2="accent2" accent3="accent3" accent4="accent4" accent5="accent5" accent6="accent6" hlink="hlink" folHlink="folHlink"/>
  <p:hf sldNum="0" ftr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2E99AA94-0ADC-40B3-B182-102584D6E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559477"/>
            <a:ext cx="8640960" cy="51115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75F23B8-49E2-42EE-8F3A-4D9FBF12EC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520" y="1130090"/>
            <a:ext cx="8640960" cy="559189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v"/>
              <a:defRPr sz="1800" b="1">
                <a:solidFill>
                  <a:srgbClr val="383054"/>
                </a:solidFill>
                <a:latin typeface="HY그래픽M" panose="02030600000101010101" pitchFamily="18" charset="-127"/>
                <a:ea typeface="HY그래픽M" panose="02030600000101010101" pitchFamily="18" charset="-127"/>
              </a:defRPr>
            </a:lvl1pPr>
            <a:lvl2pPr marL="534988" indent="-263525">
              <a:lnSpc>
                <a:spcPct val="150000"/>
              </a:lnSpc>
              <a:buFont typeface="Wingdings" panose="05000000000000000000" pitchFamily="2" charset="2"/>
              <a:buChar char="Ø"/>
              <a:defRPr sz="1600" b="0">
                <a:latin typeface="HY그래픽M" panose="02030600000101010101" pitchFamily="18" charset="-127"/>
                <a:ea typeface="HY그래픽M" panose="02030600000101010101" pitchFamily="18" charset="-127"/>
              </a:defRPr>
            </a:lvl2pPr>
            <a:lvl3pPr marL="715963" indent="-182563">
              <a:lnSpc>
                <a:spcPct val="150000"/>
              </a:lnSpc>
              <a:buFont typeface="Wingdings" panose="05000000000000000000" pitchFamily="2" charset="2"/>
              <a:buChar char="ü"/>
              <a:defRPr sz="1300" b="0">
                <a:latin typeface="HY그래픽M" panose="02030600000101010101" pitchFamily="18" charset="-127"/>
                <a:ea typeface="HY그래픽M" panose="02030600000101010101" pitchFamily="18" charset="-127"/>
              </a:defRPr>
            </a:lvl3pPr>
            <a:lvl4pPr marL="987425" indent="-180975">
              <a:defRPr sz="1300" b="0">
                <a:latin typeface="나눔고딕" panose="020D0604000000000000"/>
                <a:ea typeface="나눔고딕" panose="020D0604000000000000"/>
              </a:defRPr>
            </a:lvl4pPr>
            <a:lvl5pPr marL="1168400" indent="-180975">
              <a:defRPr sz="1300" b="0">
                <a:latin typeface="나눔고딕" panose="020D0604000000000000"/>
                <a:ea typeface="나눔고딕" panose="020D060400000000000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C7C0F0F-A7E3-485D-89BB-14D1C3C14E4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51520" y="1052736"/>
            <a:ext cx="8640960" cy="0"/>
          </a:xfrm>
          <a:prstGeom prst="line">
            <a:avLst/>
          </a:prstGeom>
          <a:solidFill>
            <a:schemeClr val="accent1"/>
          </a:solidFill>
          <a:ln w="66675" cap="rnd" cmpd="sng" algn="ctr">
            <a:gradFill flip="none" rotWithShape="1">
              <a:gsLst>
                <a:gs pos="64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6300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anchor="ctr"/>
          <a:lstStyle>
            <a:lvl1pPr algn="ctr">
              <a:defRPr sz="3500" b="1">
                <a:ln>
                  <a:noFill/>
                </a:ln>
                <a:solidFill>
                  <a:schemeClr val="tx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chemeClr val="bg1">
                    <a:lumMod val="6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07255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98" r:id="rId2"/>
  </p:sldLayoutIdLst>
  <p:hf sldNum="0"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lang="ko-KR" altLang="en-US" sz="2585" b="1" kern="1200" dirty="0">
          <a:solidFill>
            <a:srgbClr val="12521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16531" indent="-31653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lang="ko-KR" altLang="en-US" sz="1662" b="1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17" indent="-263776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lang="ko-KR" altLang="en-US" sz="1292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055103" indent="-21102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lang="ko-KR" altLang="en-US" sz="1108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477145" indent="-211021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lang="ko-KR" altLang="en-US" sz="1662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1899186" indent="-211021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lang="ko-KR" altLang="en-US" sz="1662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0E5CD-3EB5-48B3-8291-0BFA0B36E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IoT</a:t>
            </a:r>
            <a:r>
              <a:rPr lang="ko-KR" altLang="en-US" dirty="0"/>
              <a:t> 디스플레이 키트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AC492B-072E-45BC-8918-8C9BB175A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0866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D63E069-4516-94B2-1768-70CB8BDDA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27F2622-C765-E1A8-7367-5EE7B030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IoT</a:t>
            </a:r>
            <a:r>
              <a:rPr lang="ko-KR" altLang="en-US" dirty="0"/>
              <a:t>를 활용해 원하는 </a:t>
            </a:r>
            <a:r>
              <a:rPr lang="ko-KR" altLang="en-US"/>
              <a:t>정보를 텍스트 </a:t>
            </a:r>
            <a:r>
              <a:rPr lang="en-US" altLang="ko-KR"/>
              <a:t>LCD</a:t>
            </a:r>
            <a:r>
              <a:rPr lang="ko-KR" altLang="en-US" dirty="0"/>
              <a:t>에 띄워줄 수 있는 키트</a:t>
            </a:r>
            <a:endParaRPr lang="en-US" altLang="ko-KR" dirty="0"/>
          </a:p>
          <a:p>
            <a:r>
              <a:rPr lang="ko-KR" altLang="en-US" dirty="0" err="1"/>
              <a:t>아두이노</a:t>
            </a:r>
            <a:r>
              <a:rPr lang="en-US" altLang="ko-KR" dirty="0"/>
              <a:t>/ESP8266</a:t>
            </a:r>
            <a:r>
              <a:rPr lang="ko-KR" altLang="en-US" dirty="0"/>
              <a:t> </a:t>
            </a:r>
            <a:r>
              <a:rPr lang="en-US" altLang="ko-KR" dirty="0"/>
              <a:t>IoT </a:t>
            </a:r>
            <a:r>
              <a:rPr lang="ko-KR" altLang="en-US" dirty="0"/>
              <a:t>실습 키트를 바탕으로 추가 구성된 키트</a:t>
            </a:r>
            <a:endParaRPr lang="en-US" altLang="ko-KR" dirty="0"/>
          </a:p>
          <a:p>
            <a:r>
              <a:rPr lang="ko-KR" altLang="en-US" dirty="0"/>
              <a:t>추가 구성품</a:t>
            </a:r>
            <a:endParaRPr lang="en-US" altLang="ko-KR" dirty="0"/>
          </a:p>
          <a:p>
            <a:pPr lvl="1"/>
            <a:r>
              <a:rPr lang="ko-KR" altLang="en-US" dirty="0"/>
              <a:t>케이스 </a:t>
            </a:r>
            <a:r>
              <a:rPr lang="en-US" altLang="ko-KR" dirty="0"/>
              <a:t>(3D </a:t>
            </a:r>
            <a:r>
              <a:rPr lang="ko-KR" altLang="en-US" dirty="0"/>
              <a:t>출력물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Text LCD (2x16)</a:t>
            </a:r>
          </a:p>
          <a:p>
            <a:pPr lvl="1"/>
            <a:r>
              <a:rPr lang="ko-KR" altLang="en-US" dirty="0"/>
              <a:t>볼트와 렌치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8744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76491" y="665947"/>
            <a:ext cx="4626514" cy="680424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A89D59-A9E7-4E59-9D63-86610BD1D063}"/>
              </a:ext>
            </a:extLst>
          </p:cNvPr>
          <p:cNvSpPr/>
          <p:nvPr/>
        </p:nvSpPr>
        <p:spPr>
          <a:xfrm>
            <a:off x="965676" y="1674976"/>
            <a:ext cx="7134716" cy="4922376"/>
          </a:xfrm>
          <a:prstGeom prst="rect">
            <a:avLst/>
          </a:prstGeom>
          <a:solidFill>
            <a:schemeClr val="bg1">
              <a:alpha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B4E9F32-42BA-4941-B6FF-C7111AB9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준비물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11F77D-E1B9-4371-87B0-4793C48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IoT </a:t>
            </a:r>
            <a:r>
              <a:rPr lang="ko-KR" altLang="en-US" dirty="0"/>
              <a:t>임베디드 시스템 교육 키트 </a:t>
            </a:r>
            <a:r>
              <a:rPr lang="en-US" altLang="ko-KR" dirty="0"/>
              <a:t>+ 3D </a:t>
            </a:r>
            <a:r>
              <a:rPr lang="ko-KR" altLang="en-US" dirty="0"/>
              <a:t>프린트 케이스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4D17F-B3D6-46DE-8A6B-7843B374A637}"/>
              </a:ext>
            </a:extLst>
          </p:cNvPr>
          <p:cNvSpPr txBox="1"/>
          <p:nvPr/>
        </p:nvSpPr>
        <p:spPr>
          <a:xfrm>
            <a:off x="2843808" y="5004478"/>
            <a:ext cx="1224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WeMos</a:t>
            </a:r>
            <a:endParaRPr lang="ko-KR" altLang="en-US" sz="2000" b="1" dirty="0">
              <a:solidFill>
                <a:srgbClr val="0000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0F0EF-4676-4F2C-B617-80C6B1B352A1}"/>
              </a:ext>
            </a:extLst>
          </p:cNvPr>
          <p:cNvSpPr txBox="1"/>
          <p:nvPr/>
        </p:nvSpPr>
        <p:spPr>
          <a:xfrm>
            <a:off x="3131840" y="3782221"/>
            <a:ext cx="2307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HexT</a:t>
            </a:r>
            <a:r>
              <a:rPr lang="en-US" altLang="ko-KR" sz="2000" b="1" dirty="0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Switch Sensor</a:t>
            </a:r>
            <a:endParaRPr lang="ko-KR" altLang="en-US" sz="2000" b="1" dirty="0">
              <a:solidFill>
                <a:srgbClr val="0000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082B1-3103-4C74-A883-AD43B5673AA1}"/>
              </a:ext>
            </a:extLst>
          </p:cNvPr>
          <p:cNvSpPr txBox="1"/>
          <p:nvPr/>
        </p:nvSpPr>
        <p:spPr>
          <a:xfrm>
            <a:off x="5135732" y="5050645"/>
            <a:ext cx="12241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Text</a:t>
            </a:r>
          </a:p>
          <a:p>
            <a:pPr algn="ctr"/>
            <a:r>
              <a:rPr lang="en-US" altLang="ko-KR" sz="2000" b="1" dirty="0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LCD</a:t>
            </a:r>
            <a:endParaRPr lang="ko-KR" altLang="en-US" sz="2000" b="1" dirty="0">
              <a:solidFill>
                <a:srgbClr val="0000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C1420-E9B2-42F6-8FB9-D98ADE05E24D}"/>
              </a:ext>
            </a:extLst>
          </p:cNvPr>
          <p:cNvSpPr txBox="1"/>
          <p:nvPr/>
        </p:nvSpPr>
        <p:spPr>
          <a:xfrm>
            <a:off x="5747799" y="2564904"/>
            <a:ext cx="1224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Cable</a:t>
            </a:r>
            <a:endParaRPr lang="ko-KR" altLang="en-US" sz="2000" b="1" dirty="0">
              <a:solidFill>
                <a:srgbClr val="0000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A1E73-4EFC-4FB2-9042-92A6299444AB}"/>
              </a:ext>
            </a:extLst>
          </p:cNvPr>
          <p:cNvSpPr txBox="1"/>
          <p:nvPr/>
        </p:nvSpPr>
        <p:spPr>
          <a:xfrm>
            <a:off x="3650110" y="2457182"/>
            <a:ext cx="2474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3D Printed Case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D35F89-114F-4FB7-A80E-3901BA246F63}"/>
              </a:ext>
            </a:extLst>
          </p:cNvPr>
          <p:cNvSpPr txBox="1"/>
          <p:nvPr/>
        </p:nvSpPr>
        <p:spPr>
          <a:xfrm>
            <a:off x="6348875" y="5050645"/>
            <a:ext cx="12241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Bolt &amp; Wrench</a:t>
            </a:r>
            <a:endParaRPr lang="ko-KR" altLang="en-US" sz="2000" b="1" dirty="0">
              <a:solidFill>
                <a:srgbClr val="0000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A0F0EF-4676-4F2C-B617-80C6B1B352A1}"/>
              </a:ext>
            </a:extLst>
          </p:cNvPr>
          <p:cNvSpPr txBox="1"/>
          <p:nvPr/>
        </p:nvSpPr>
        <p:spPr>
          <a:xfrm>
            <a:off x="5847022" y="3782221"/>
            <a:ext cx="2307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HexT</a:t>
            </a:r>
            <a:r>
              <a:rPr lang="en-US" altLang="ko-KR" sz="2000" b="1" dirty="0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Temp.</a:t>
            </a:r>
          </a:p>
          <a:p>
            <a:pPr algn="ctr"/>
            <a:r>
              <a:rPr lang="en-US" altLang="ko-KR" sz="2000" b="1" dirty="0">
                <a:solidFill>
                  <a:srgbClr val="0000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Sensor</a:t>
            </a:r>
            <a:endParaRPr lang="ko-KR" altLang="en-US" sz="2000" b="1" dirty="0">
              <a:solidFill>
                <a:srgbClr val="0000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6083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4E9F32-42BA-4941-B6FF-C7111AB9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하드웨어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11F77D-E1B9-4371-87B0-4793C48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하드웨어 조립</a:t>
            </a:r>
            <a:r>
              <a:rPr lang="en-US" altLang="ko-KR" dirty="0"/>
              <a:t>(1) – </a:t>
            </a:r>
            <a:r>
              <a:rPr lang="en-US" altLang="ko-KR" dirty="0" err="1"/>
              <a:t>WeMos</a:t>
            </a:r>
            <a:r>
              <a:rPr lang="en-US" altLang="ko-KR" dirty="0"/>
              <a:t> </a:t>
            </a:r>
            <a:r>
              <a:rPr lang="ko-KR" altLang="en-US" dirty="0"/>
              <a:t>보드 고정</a:t>
            </a:r>
            <a:endParaRPr lang="en-US" altLang="ko-KR" dirty="0"/>
          </a:p>
          <a:p>
            <a:pPr lvl="1"/>
            <a:r>
              <a:rPr lang="en-US" altLang="ko-KR" dirty="0"/>
              <a:t>3D</a:t>
            </a:r>
            <a:r>
              <a:rPr lang="ko-KR" altLang="en-US" dirty="0"/>
              <a:t> 프린트 출력물</a:t>
            </a:r>
            <a:r>
              <a:rPr lang="en-US" altLang="ko-KR" dirty="0"/>
              <a:t> </a:t>
            </a:r>
            <a:r>
              <a:rPr lang="ko-KR" altLang="en-US" dirty="0"/>
              <a:t>밑면에 </a:t>
            </a:r>
            <a:r>
              <a:rPr lang="en-US" altLang="ko-KR" dirty="0" err="1"/>
              <a:t>WeMos</a:t>
            </a:r>
            <a:r>
              <a:rPr lang="en-US" altLang="ko-KR" dirty="0"/>
              <a:t> </a:t>
            </a:r>
            <a:r>
              <a:rPr lang="ko-KR" altLang="en-US" dirty="0"/>
              <a:t>보드를 나사로 고정 </a:t>
            </a:r>
            <a:endParaRPr lang="en-US" altLang="ko-KR" dirty="0"/>
          </a:p>
          <a:p>
            <a:pPr lvl="1"/>
            <a:r>
              <a:rPr lang="en-US" altLang="ko-KR" dirty="0" err="1"/>
              <a:t>WeMos</a:t>
            </a:r>
            <a:r>
              <a:rPr lang="en-US" altLang="ko-KR" dirty="0"/>
              <a:t> </a:t>
            </a:r>
            <a:r>
              <a:rPr lang="ko-KR" altLang="en-US" dirty="0"/>
              <a:t>보드 고정 후 </a:t>
            </a:r>
            <a:r>
              <a:rPr lang="en-US" altLang="ko-KR" dirty="0" err="1"/>
              <a:t>HexT</a:t>
            </a:r>
            <a:r>
              <a:rPr lang="en-US" altLang="ko-KR" dirty="0"/>
              <a:t> UNO Interface Board</a:t>
            </a:r>
            <a:r>
              <a:rPr lang="ko-KR" altLang="en-US" dirty="0"/>
              <a:t>결합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0" t="11549" r="21142" b="4452"/>
          <a:stretch/>
        </p:blipFill>
        <p:spPr>
          <a:xfrm>
            <a:off x="1547664" y="2564904"/>
            <a:ext cx="2647646" cy="399644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33" t="15652" r="20068" b="10849"/>
          <a:stretch/>
        </p:blipFill>
        <p:spPr>
          <a:xfrm>
            <a:off x="5004048" y="2564903"/>
            <a:ext cx="2683327" cy="3996445"/>
          </a:xfrm>
          <a:prstGeom prst="rect">
            <a:avLst/>
          </a:prstGeom>
        </p:spPr>
      </p:pic>
      <p:sp>
        <p:nvSpPr>
          <p:cNvPr id="8" name="타원 7"/>
          <p:cNvSpPr/>
          <p:nvPr/>
        </p:nvSpPr>
        <p:spPr>
          <a:xfrm>
            <a:off x="2025260" y="3068960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2025260" y="3789040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3383340" y="4149080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3383340" y="2996952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4086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4E9F32-42BA-4941-B6FF-C7111AB9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하드웨어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11F77D-E1B9-4371-87B0-4793C48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하드웨어 조립</a:t>
            </a:r>
            <a:r>
              <a:rPr lang="en-US" altLang="ko-KR" dirty="0"/>
              <a:t>(2) – </a:t>
            </a:r>
            <a:r>
              <a:rPr lang="ko-KR" altLang="en-US" dirty="0"/>
              <a:t>센서</a:t>
            </a:r>
            <a:r>
              <a:rPr lang="en-US" altLang="ko-KR" dirty="0"/>
              <a:t>/LCD</a:t>
            </a:r>
            <a:r>
              <a:rPr lang="ko-KR" altLang="en-US" dirty="0"/>
              <a:t> 고정</a:t>
            </a:r>
            <a:endParaRPr lang="en-US" altLang="ko-KR" dirty="0"/>
          </a:p>
          <a:p>
            <a:pPr lvl="1"/>
            <a:r>
              <a:rPr lang="en-US" altLang="ko-KR" dirty="0"/>
              <a:t>3D</a:t>
            </a:r>
            <a:r>
              <a:rPr lang="ko-KR" altLang="en-US" dirty="0"/>
              <a:t> 프린트 출력물에 온도센서</a:t>
            </a:r>
            <a:r>
              <a:rPr lang="en-US" altLang="ko-KR" dirty="0"/>
              <a:t>, </a:t>
            </a:r>
            <a:r>
              <a:rPr lang="ko-KR" altLang="en-US" dirty="0"/>
              <a:t>스위치</a:t>
            </a:r>
            <a:r>
              <a:rPr lang="en-US" altLang="ko-KR" dirty="0"/>
              <a:t> </a:t>
            </a:r>
            <a:r>
              <a:rPr lang="ko-KR" altLang="en-US" dirty="0"/>
              <a:t>보드를 나사로 고정 </a:t>
            </a:r>
            <a:endParaRPr lang="en-US" altLang="ko-KR" dirty="0"/>
          </a:p>
          <a:p>
            <a:pPr lvl="1"/>
            <a:r>
              <a:rPr lang="en-US" altLang="ko-KR" dirty="0"/>
              <a:t>Text LCD</a:t>
            </a:r>
            <a:r>
              <a:rPr lang="ko-KR" altLang="en-US" dirty="0"/>
              <a:t>를 그림과 같이 넣고 나사로 고정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5" t="45944"/>
          <a:stretch/>
        </p:blipFill>
        <p:spPr>
          <a:xfrm rot="10800000">
            <a:off x="5292080" y="2924944"/>
            <a:ext cx="3046567" cy="342962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98" b="21203"/>
          <a:stretch/>
        </p:blipFill>
        <p:spPr>
          <a:xfrm>
            <a:off x="684193" y="2924944"/>
            <a:ext cx="4367266" cy="3423889"/>
          </a:xfrm>
          <a:prstGeom prst="rect">
            <a:avLst/>
          </a:prstGeom>
        </p:spPr>
      </p:pic>
      <p:sp>
        <p:nvSpPr>
          <p:cNvPr id="6" name="타원 5"/>
          <p:cNvSpPr/>
          <p:nvPr/>
        </p:nvSpPr>
        <p:spPr>
          <a:xfrm>
            <a:off x="5486037" y="3987552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6228184" y="3987552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912342" y="3987552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7654489" y="3987552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677090" y="4441721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677090" y="5272301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7635430" y="4441721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7635430" y="5272301"/>
            <a:ext cx="382107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1713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4E9F32-42BA-4941-B6FF-C7111AB9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하드웨어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11F77D-E1B9-4371-87B0-4793C48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하드웨어 조립</a:t>
            </a:r>
            <a:r>
              <a:rPr lang="en-US" altLang="ko-KR" dirty="0"/>
              <a:t>(3) – </a:t>
            </a:r>
            <a:r>
              <a:rPr lang="ko-KR" altLang="en-US" dirty="0" err="1"/>
              <a:t>점퍼케이블</a:t>
            </a:r>
            <a:r>
              <a:rPr lang="ko-KR" altLang="en-US" dirty="0"/>
              <a:t> 연결</a:t>
            </a:r>
            <a:endParaRPr lang="en-US" altLang="ko-KR" dirty="0"/>
          </a:p>
          <a:p>
            <a:pPr lvl="1"/>
            <a:r>
              <a:rPr lang="en-US" altLang="ko-KR" dirty="0"/>
              <a:t>2-pin </a:t>
            </a:r>
            <a:r>
              <a:rPr lang="ko-KR" altLang="en-US" dirty="0"/>
              <a:t>점퍼 케이블 연결 </a:t>
            </a:r>
            <a:r>
              <a:rPr lang="en-US" altLang="ko-KR" dirty="0"/>
              <a:t>(D3-A5, D4-A4)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00" t="8400" r="10401" b="58000"/>
          <a:stretch/>
        </p:blipFill>
        <p:spPr>
          <a:xfrm>
            <a:off x="2267744" y="2708920"/>
            <a:ext cx="4392488" cy="3698937"/>
          </a:xfrm>
          <a:prstGeom prst="rect">
            <a:avLst/>
          </a:prstGeom>
        </p:spPr>
      </p:pic>
      <p:sp>
        <p:nvSpPr>
          <p:cNvPr id="6" name="타원 5"/>
          <p:cNvSpPr/>
          <p:nvPr/>
        </p:nvSpPr>
        <p:spPr>
          <a:xfrm>
            <a:off x="2771800" y="3284984"/>
            <a:ext cx="648072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3275856" y="5373216"/>
            <a:ext cx="648072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92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4E9F32-42BA-4941-B6FF-C7111AB9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하드웨어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11F77D-E1B9-4371-87B0-4793C48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하드웨어 조립</a:t>
            </a:r>
            <a:r>
              <a:rPr lang="en-US" altLang="ko-KR" dirty="0"/>
              <a:t>(4) – 4</a:t>
            </a:r>
            <a:r>
              <a:rPr lang="ko-KR" altLang="en-US" dirty="0"/>
              <a:t>핀 케이블 연결</a:t>
            </a:r>
            <a:endParaRPr lang="en-US" altLang="ko-KR" dirty="0"/>
          </a:p>
          <a:p>
            <a:pPr lvl="1"/>
            <a:r>
              <a:rPr lang="en-US" altLang="ko-KR" dirty="0"/>
              <a:t>Text LCD : Analog In 3</a:t>
            </a:r>
          </a:p>
          <a:p>
            <a:pPr lvl="1"/>
            <a:r>
              <a:rPr lang="en-US" altLang="ko-KR" dirty="0"/>
              <a:t>Switch Board : Analog Out 1</a:t>
            </a:r>
          </a:p>
          <a:p>
            <a:pPr lvl="1"/>
            <a:r>
              <a:rPr lang="en-US" altLang="ko-KR" dirty="0"/>
              <a:t>Temp. Sensor : Analog In 1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04048" y="2178340"/>
            <a:ext cx="3402378" cy="4536504"/>
          </a:xfrm>
          <a:prstGeom prst="rect">
            <a:avLst/>
          </a:prstGeom>
        </p:spPr>
      </p:pic>
      <p:sp>
        <p:nvSpPr>
          <p:cNvPr id="2" name="타원 1"/>
          <p:cNvSpPr/>
          <p:nvPr/>
        </p:nvSpPr>
        <p:spPr>
          <a:xfrm>
            <a:off x="7092280" y="3356992"/>
            <a:ext cx="648072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300192" y="3356992"/>
            <a:ext cx="648072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705237" y="2996952"/>
            <a:ext cx="648072" cy="3600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2190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4E9F32-42BA-4941-B6FF-C7111AB9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하드웨어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11F77D-E1B9-4371-87B0-4793C48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하드웨어 조립</a:t>
            </a:r>
            <a:r>
              <a:rPr lang="en-US" altLang="ko-KR" dirty="0"/>
              <a:t>(5) – </a:t>
            </a:r>
            <a:r>
              <a:rPr lang="ko-KR" altLang="en-US" dirty="0"/>
              <a:t>완성</a:t>
            </a:r>
            <a:endParaRPr lang="en-US" altLang="ko-KR" dirty="0"/>
          </a:p>
          <a:p>
            <a:pPr lvl="1"/>
            <a:r>
              <a:rPr lang="en-US" altLang="ko-KR" dirty="0"/>
              <a:t>3D </a:t>
            </a:r>
            <a:r>
              <a:rPr lang="ko-KR" altLang="en-US" dirty="0"/>
              <a:t>출력물 끼리 결합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1" b="23750"/>
          <a:stretch/>
        </p:blipFill>
        <p:spPr>
          <a:xfrm>
            <a:off x="2382213" y="2348880"/>
            <a:ext cx="4379574" cy="3924044"/>
          </a:xfrm>
          <a:prstGeom prst="rect">
            <a:avLst/>
          </a:prstGeom>
        </p:spPr>
      </p:pic>
      <p:sp>
        <p:nvSpPr>
          <p:cNvPr id="9" name="타원 8"/>
          <p:cNvSpPr/>
          <p:nvPr/>
        </p:nvSpPr>
        <p:spPr>
          <a:xfrm>
            <a:off x="3203848" y="5877272"/>
            <a:ext cx="3024336" cy="44016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1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2">
                    <a:lumMod val="75000"/>
                  </a:schemeClr>
                </a:solidFill>
              </a:rPr>
              <a:t>Thank you</a:t>
            </a:r>
            <a:endParaRPr lang="ko-KR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54870199-F67E-4752-8634-0EB86E9DC7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83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HY헤드라인M" panose="02030600000101010101" pitchFamily="18" charset="-127"/>
            <a:ea typeface="HY헤드라인M" panose="0203060000010101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solidFill>
            <a:srgbClr val="FFC000"/>
          </a:solidFill>
          <a:headEnd type="oval" w="sm" len="sm"/>
          <a:tailEnd type="oval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249078</TotalTime>
  <Words>184</Words>
  <Application>Microsoft Office PowerPoint</Application>
  <PresentationFormat>화면 슬라이드 쇼(4:3)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HY그래픽M</vt:lpstr>
      <vt:lpstr>HY헤드라인M</vt:lpstr>
      <vt:lpstr>굴림</vt:lpstr>
      <vt:lpstr>나눔고딕</vt:lpstr>
      <vt:lpstr>맑은 고딕</vt:lpstr>
      <vt:lpstr>Arial</vt:lpstr>
      <vt:lpstr>Wingdings</vt:lpstr>
      <vt:lpstr>Office 테마</vt:lpstr>
      <vt:lpstr>IoT 디스플레이 키트</vt:lpstr>
      <vt:lpstr>특징</vt:lpstr>
      <vt:lpstr>준비물</vt:lpstr>
      <vt:lpstr>하드웨어 </vt:lpstr>
      <vt:lpstr>하드웨어 </vt:lpstr>
      <vt:lpstr>하드웨어 </vt:lpstr>
      <vt:lpstr>하드웨어 </vt:lpstr>
      <vt:lpstr>하드웨어 </vt:lpstr>
      <vt:lpstr>Thank you</vt:lpstr>
    </vt:vector>
  </TitlesOfParts>
  <Company>kjwkor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rcs2119</dc:creator>
  <cp:lastModifiedBy>SeonJe Yang</cp:lastModifiedBy>
  <cp:revision>7401</cp:revision>
  <cp:lastPrinted>2019-07-21T07:32:47Z</cp:lastPrinted>
  <dcterms:created xsi:type="dcterms:W3CDTF">2010-04-30T04:24:12Z</dcterms:created>
  <dcterms:modified xsi:type="dcterms:W3CDTF">2026-03-22T00:20:37Z</dcterms:modified>
</cp:coreProperties>
</file>